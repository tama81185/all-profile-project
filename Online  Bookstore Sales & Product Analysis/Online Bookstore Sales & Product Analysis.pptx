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0b2caf84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c0b2caf84f_2_75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0b2caf84f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c0b2caf84f_2_8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0b2caf84f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0b2caf84f_2_8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0b2caf84f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0b2caf84f_2_9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0b2caf8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0b2caf8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0b2caf8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c0b2caf84f_0_7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0b2caf84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0b2caf84f_0_12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0b2caf84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0b2caf84f_0_41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0b2caf84f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c0b2caf84f_2_16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0b2caf84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0b2caf84f_0_47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0b2caf84f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c0b2caf84f_2_18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0b2caf84f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c0b2caf84f_2_16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0b2caf84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c0b2caf84f_0_53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0b2caf84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c0b2caf84f_0_59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0b2caf84f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c0b2caf84f_2_18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0b2caf84f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c0b2caf84f_2_13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0b2caf84f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c0b2caf84f_2_101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0b2caf84f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c0b2caf84f_2_116:notes"/>
          <p:cNvSpPr/>
          <p:nvPr>
            <p:ph idx="2" type="sldImg"/>
          </p:nvPr>
        </p:nvSpPr>
        <p:spPr>
          <a:xfrm>
            <a:off x="1142653" y="685800"/>
            <a:ext cx="45733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0bba2adc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0bba2adcd_0_2:notes"/>
          <p:cNvSpPr/>
          <p:nvPr>
            <p:ph idx="2" type="sldImg"/>
          </p:nvPr>
        </p:nvSpPr>
        <p:spPr>
          <a:xfrm>
            <a:off x="1142653" y="685800"/>
            <a:ext cx="457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0b2caf84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0b2caf84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0b2caf84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0b2caf84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0b2caf84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0b2caf84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514479" y="1597819"/>
            <a:ext cx="5830759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028957" y="2914650"/>
            <a:ext cx="4801801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541870" y="3305175"/>
            <a:ext cx="5830759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541870" y="2180035"/>
            <a:ext cx="5830759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42986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3487022" y="1200150"/>
            <a:ext cx="30297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42986" y="1151335"/>
            <a:ext cx="3030899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342986" y="1631156"/>
            <a:ext cx="3030899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3484640" y="1151335"/>
            <a:ext cx="303209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3484640" y="1631156"/>
            <a:ext cx="303209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6" y="204788"/>
            <a:ext cx="2256799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58" y="204788"/>
            <a:ext cx="3834772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6" y="1076325"/>
            <a:ext cx="2256799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52" y="3600450"/>
            <a:ext cx="411583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52" y="459581"/>
            <a:ext cx="411583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52" y="4025503"/>
            <a:ext cx="411583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22" y="-189486"/>
            <a:ext cx="3394472" cy="61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690" y="1628582"/>
            <a:ext cx="4388644" cy="15434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54" y="142311"/>
            <a:ext cx="4388644" cy="451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6" y="1200150"/>
            <a:ext cx="6173744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6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36" y="4767263"/>
            <a:ext cx="2172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30" y="4767263"/>
            <a:ext cx="1600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656629" y="1389619"/>
            <a:ext cx="58308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33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Bookstore Sales &amp; Product Analysis</a:t>
            </a:r>
            <a:endParaRPr b="1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2077707" y="2621625"/>
            <a:ext cx="4801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b="1" lang="en">
                <a:solidFill>
                  <a:srgbClr val="3C7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Pricing, Ratings, Availability and Marketing Insights</a:t>
            </a:r>
            <a:endParaRPr b="1">
              <a:solidFill>
                <a:srgbClr val="3C78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Performance Indicators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85972" y="1028700"/>
            <a:ext cx="75456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Price: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$35.07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Availability: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100.00%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vs Rating Correlation: </a:t>
            </a: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0.03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What is the average price of all books?</a:t>
            </a:r>
            <a:endParaRPr b="1" sz="17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The average price of all books is </a:t>
            </a:r>
            <a:r>
              <a:rPr b="1" lang="en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$35.07.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Which popular or high-rated books are running out of stock?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Ans: In this dataset, there are no high-rated books which are just out of stock.</a:t>
            </a:r>
            <a:endParaRPr sz="24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Rating Distribution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evel3_rating_distribution.png" id="142" name="Google Shape;1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Expensive Books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op_10_expensive_books.png" id="148" name="Google Shape;1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Highly Rated Books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578350" y="1202975"/>
            <a:ext cx="75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29" title="top_10_highly_rated_boo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725" y="1346550"/>
            <a:ext cx="5135206" cy="30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-317182" lvl="0" marL="45720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ct val="100000"/>
              <a:buFont typeface="Times New Roman"/>
              <a:buAutoNum type="arabicPeriod"/>
            </a:pPr>
            <a:r>
              <a:rPr b="1" lang="en" sz="1550">
                <a:solidFill>
                  <a:srgbClr val="274E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books are the most expensive and which are the cheapest?</a:t>
            </a:r>
            <a:endParaRPr b="1" sz="1550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Expensive Books:</a:t>
            </a:r>
            <a:endParaRPr b="1" sz="20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op_10_expensive_books.png" id="161" name="Google Shape;1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225" y="1272100"/>
            <a:ext cx="7213749" cy="327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10 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Cheapest 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Books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31" title="cheapest_boo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50" y="1148225"/>
            <a:ext cx="7672852" cy="31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Is there a pattern between book price and customer rating?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3" name="Google Shape;173;p32" title="price_vs_rating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275" y="969029"/>
            <a:ext cx="5033764" cy="3775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737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Which books could be candidates for discount or promotion?</a:t>
            </a:r>
            <a:endParaRPr b="1" sz="1800">
              <a:solidFill>
                <a:srgbClr val="07376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iscount_promotion_books.png" id="179" name="Google Shape;1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342900" lvl="0" marL="457200" rtl="0" algn="just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rgbClr val="1C4587"/>
              </a:buClr>
              <a:buSzPts val="1800"/>
              <a:buFont typeface="Times New Roman"/>
              <a:buAutoNum type="arabicPeriod" startAt="5"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books fall under each rating category (One to Five)?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evel3_rating_distribution.png" id="185" name="Google Shape;1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9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Which books have the highest ratings?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op10_highest_rated_books.png" id="191" name="Google Shape;19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5"/>
          <p:cNvSpPr txBox="1"/>
          <p:nvPr/>
        </p:nvSpPr>
        <p:spPr>
          <a:xfrm>
            <a:off x="-1202975" y="763425"/>
            <a:ext cx="44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Which books have the lowest ratings?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op10_lowest_rated_books.png" id="198" name="Google Shape;19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higher-priced books rated better than lower-priced ones?</a:t>
            </a:r>
            <a:endParaRPr b="1" sz="24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37" title="rice_rating_correl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875" y="753104"/>
            <a:ext cx="5033764" cy="3775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books are currently in stock vs out of stock?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38" title="stock_availabili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575" y="948475"/>
            <a:ext cx="4458474" cy="381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there books that are rarely sold but always in stock?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rarely_sold_in_stock.png" id="216" name="Google Shape;21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Which books have the most potential for cross-selling or upselling?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ross_sell_upsell.png" id="222" name="Google Shape;22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1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Can we identify books that are trending based on ratings and availability?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41" title="Trending Books (High Rating &amp; In Stock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550" y="907154"/>
            <a:ext cx="6291430" cy="3775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 txBox="1"/>
          <p:nvPr>
            <p:ph type="title"/>
          </p:nvPr>
        </p:nvSpPr>
        <p:spPr>
          <a:xfrm>
            <a:off x="342986" y="205978"/>
            <a:ext cx="6173744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 Which books are underperforming despite being expensive?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underperforming_expensive_books.png" id="234" name="Google Shape;23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972" y="1028700"/>
            <a:ext cx="7545688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42986" y="205978"/>
            <a:ext cx="6173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 </a:t>
            </a:r>
            <a:r>
              <a:rPr b="1" lang="en" sz="18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books could be highlighted in marketing campaigns?</a:t>
            </a:r>
            <a:endParaRPr b="1" sz="18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p43" title="marketing_book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600" y="1107804"/>
            <a:ext cx="6291180" cy="3775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4"/>
          <p:cNvSpPr txBox="1"/>
          <p:nvPr>
            <p:ph type="title"/>
          </p:nvPr>
        </p:nvSpPr>
        <p:spPr>
          <a:xfrm>
            <a:off x="342975" y="205959"/>
            <a:ext cx="6173700" cy="466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: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Pricing &amp; Promotions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Apply 10–20% discount on top 5 high-priced books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Use bundle offers for mid-priced books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Customer Ratings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Promote all 5-star  books prominently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Review or improve 1-star books (or consider removal)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Stock &amp; Inventory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Keep high-rated books in stock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Reduce stock or bundle rarely sold books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5"/>
          <p:cNvSpPr txBox="1"/>
          <p:nvPr>
            <p:ph type="title"/>
          </p:nvPr>
        </p:nvSpPr>
        <p:spPr>
          <a:xfrm>
            <a:off x="342975" y="205959"/>
            <a:ext cx="6173700" cy="4667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:</a:t>
            </a:r>
            <a:endParaRPr b="1" sz="17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Marketing &amp; Upselling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Target 5-star books for cross-selling and upselling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Feature 5-star books in email, social media, and website highlights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Bundle 4-star books with 5-star titles for promotions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Underperforming Books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Investigate 1–2-star high-priced books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Adjust pricing or marketing until issues are resolved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Quality Control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Monitor price-to-rating ratio as a KPI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Ensure accurate descriptions, editorial review, and sample testing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366100" y="229100"/>
            <a:ext cx="8509800" cy="11280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2069"/>
              <a:buFont typeface="Arial"/>
              <a:buNone/>
            </a:pPr>
            <a:r>
              <a:rPr b="1" lang="en" sz="1772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1772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14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Focus on quality, marketing high-rated books and optimizing inventory to boost sales and customer satisfaction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46"/>
          <p:cNvSpPr txBox="1"/>
          <p:nvPr/>
        </p:nvSpPr>
        <p:spPr>
          <a:xfrm>
            <a:off x="724875" y="1866175"/>
            <a:ext cx="7318200" cy="28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1C45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5200">
              <a:solidFill>
                <a:srgbClr val="1C458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